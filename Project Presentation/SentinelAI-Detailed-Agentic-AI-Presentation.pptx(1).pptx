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nos Bold" charset="1" panose="02020803070505020304"/>
      <p:regular r:id="rId17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Nunito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7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96739" y="2487987"/>
            <a:ext cx="161083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2"/>
              </a:lnSpc>
            </a:pPr>
            <a:r>
              <a:rPr lang="en-US" sz="3501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DEPARTMENT OF ARTIFICIAL INTELLIGENCE AND MACHINE LEARNING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867" y="4098950"/>
            <a:ext cx="16014106" cy="3050381"/>
            <a:chOff x="0" y="0"/>
            <a:chExt cx="21352142" cy="4067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52129" cy="4067175"/>
            </a:xfrm>
            <a:custGeom>
              <a:avLst/>
              <a:gdLst/>
              <a:ahLst/>
              <a:cxnLst/>
              <a:rect r="r" b="b" t="t" l="l"/>
              <a:pathLst>
                <a:path h="4067175" w="21352129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1283549" y="0"/>
                  </a:lnTo>
                  <a:cubicBezTo>
                    <a:pt x="21321395" y="0"/>
                    <a:pt x="21352129" y="30734"/>
                    <a:pt x="21352129" y="68580"/>
                  </a:cubicBezTo>
                  <a:lnTo>
                    <a:pt x="21352129" y="3998595"/>
                  </a:lnTo>
                  <a:cubicBezTo>
                    <a:pt x="21352129" y="4036441"/>
                    <a:pt x="21321395" y="4067175"/>
                    <a:pt x="21283549" y="4067175"/>
                  </a:cubicBezTo>
                  <a:lnTo>
                    <a:pt x="68580" y="4067175"/>
                  </a:lnTo>
                  <a:cubicBezTo>
                    <a:pt x="30734" y="4067175"/>
                    <a:pt x="0" y="4036441"/>
                    <a:pt x="0" y="3998595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501746" y="4461215"/>
            <a:ext cx="329834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5703" b="true">
                <a:solidFill>
                  <a:srgbClr val="F7F1E6"/>
                </a:solidFill>
                <a:latin typeface="Tinos Bold"/>
                <a:ea typeface="Tinos Bold"/>
                <a:cs typeface="Tinos Bold"/>
                <a:sym typeface="Tinos Bold"/>
              </a:rPr>
              <a:t>SentinelAI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82317" y="5748090"/>
            <a:ext cx="1193720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2"/>
              </a:lnSpc>
            </a:pPr>
            <a:r>
              <a:rPr lang="en-US" sz="3601" b="true">
                <a:solidFill>
                  <a:srgbClr val="F7F1E6"/>
                </a:solidFill>
                <a:latin typeface="Tinos Bold"/>
                <a:ea typeface="Tinos Bold"/>
                <a:cs typeface="Tinos Bold"/>
                <a:sym typeface="Tinos Bold"/>
              </a:rPr>
              <a:t>Agentic Threat Intelligence and Automated Response System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053834" y="7244658"/>
            <a:ext cx="4194172" cy="76257"/>
            <a:chOff x="0" y="0"/>
            <a:chExt cx="5592229" cy="1016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92191" cy="101600"/>
            </a:xfrm>
            <a:custGeom>
              <a:avLst/>
              <a:gdLst/>
              <a:ahLst/>
              <a:cxnLst/>
              <a:rect r="r" b="b" t="t" l="l"/>
              <a:pathLst>
                <a:path h="101600" w="5592191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5541391" y="0"/>
                  </a:lnTo>
                  <a:cubicBezTo>
                    <a:pt x="5569458" y="0"/>
                    <a:pt x="5592191" y="22733"/>
                    <a:pt x="5592191" y="50800"/>
                  </a:cubicBezTo>
                  <a:cubicBezTo>
                    <a:pt x="5592191" y="78867"/>
                    <a:pt x="5569458" y="101600"/>
                    <a:pt x="5541391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3867" y="7835732"/>
            <a:ext cx="6863191" cy="1276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7"/>
              </a:lnSpc>
            </a:pPr>
            <a:r>
              <a:rPr lang="en-US" sz="2251" b="true">
                <a:solidFill>
                  <a:srgbClr val="5E5661"/>
                </a:solidFill>
                <a:latin typeface="Arimo Bold"/>
                <a:ea typeface="Arimo Bold"/>
                <a:cs typeface="Arimo Bold"/>
                <a:sym typeface="Arimo Bold"/>
              </a:rPr>
              <a:t>Presented by</a:t>
            </a:r>
          </a:p>
          <a:p>
            <a:pPr algn="ctr">
              <a:lnSpc>
                <a:spcPts val="3377"/>
              </a:lnSpc>
            </a:pPr>
            <a:r>
              <a:rPr lang="en-US" sz="2251">
                <a:solidFill>
                  <a:srgbClr val="5E5661"/>
                </a:solidFill>
                <a:latin typeface="Arimo"/>
                <a:ea typeface="Arimo"/>
                <a:cs typeface="Arimo"/>
                <a:sym typeface="Arimo"/>
              </a:rPr>
              <a:t>Aniruth S V — 231501015</a:t>
            </a:r>
          </a:p>
          <a:p>
            <a:pPr algn="ctr">
              <a:lnSpc>
                <a:spcPts val="3377"/>
              </a:lnSpc>
            </a:pPr>
            <a:r>
              <a:rPr lang="en-US" sz="2251">
                <a:solidFill>
                  <a:srgbClr val="5E5661"/>
                </a:solidFill>
                <a:latin typeface="Arimo"/>
                <a:ea typeface="Arimo"/>
                <a:cs typeface="Arimo"/>
                <a:sym typeface="Arimo"/>
              </a:rPr>
              <a:t>Girivasanth V — 231501048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13999" y="7621419"/>
            <a:ext cx="8007058" cy="1704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7"/>
              </a:lnSpc>
            </a:pPr>
            <a:r>
              <a:rPr lang="en-US" sz="2251" b="true">
                <a:solidFill>
                  <a:srgbClr val="5E5661"/>
                </a:solidFill>
                <a:latin typeface="Arimo Bold"/>
                <a:ea typeface="Arimo Bold"/>
                <a:cs typeface="Arimo Bold"/>
                <a:sym typeface="Arimo Bold"/>
              </a:rPr>
              <a:t>Submitted to</a:t>
            </a:r>
          </a:p>
          <a:p>
            <a:pPr algn="ctr">
              <a:lnSpc>
                <a:spcPts val="3377"/>
              </a:lnSpc>
            </a:pPr>
            <a:r>
              <a:rPr lang="en-US" sz="2251">
                <a:solidFill>
                  <a:srgbClr val="5E5661"/>
                </a:solidFill>
                <a:latin typeface="Arimo"/>
                <a:ea typeface="Arimo"/>
                <a:cs typeface="Arimo"/>
                <a:sym typeface="Arimo"/>
              </a:rPr>
              <a:t>Dr. M. Soundarya</a:t>
            </a:r>
          </a:p>
          <a:p>
            <a:pPr algn="ctr">
              <a:lnSpc>
                <a:spcPts val="3377"/>
              </a:lnSpc>
            </a:pPr>
            <a:r>
              <a:rPr lang="en-US" sz="2251">
                <a:solidFill>
                  <a:srgbClr val="5E5661"/>
                </a:solidFill>
                <a:latin typeface="Arimo"/>
                <a:ea typeface="Arimo"/>
                <a:cs typeface="Arimo"/>
                <a:sym typeface="Arimo"/>
              </a:rPr>
              <a:t>Assistant Professor, Department of AI&amp;ML,</a:t>
            </a:r>
          </a:p>
          <a:p>
            <a:pPr algn="ctr">
              <a:lnSpc>
                <a:spcPts val="3377"/>
              </a:lnSpc>
            </a:pPr>
            <a:r>
              <a:rPr lang="en-US" sz="2251">
                <a:solidFill>
                  <a:srgbClr val="5E5661"/>
                </a:solidFill>
                <a:latin typeface="Arimo"/>
                <a:ea typeface="Arimo"/>
                <a:cs typeface="Arimo"/>
                <a:sym typeface="Arimo"/>
              </a:rPr>
              <a:t>Rajalakshmi Engineering College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925210" y="9820056"/>
            <a:ext cx="3366506" cy="343167"/>
            <a:chOff x="0" y="0"/>
            <a:chExt cx="4488675" cy="4575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7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32300" y="810282"/>
            <a:ext cx="13268839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3"/>
              </a:lnSpc>
            </a:pPr>
            <a:r>
              <a:rPr lang="en-US" sz="3602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The Problem &amp; Our Solution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867" y="2764412"/>
            <a:ext cx="6863191" cy="4384929"/>
            <a:chOff x="0" y="0"/>
            <a:chExt cx="9150922" cy="5846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0858" cy="5846572"/>
            </a:xfrm>
            <a:custGeom>
              <a:avLst/>
              <a:gdLst/>
              <a:ahLst/>
              <a:cxnLst/>
              <a:rect r="r" b="b" t="t" l="l"/>
              <a:pathLst>
                <a:path h="5846572" w="915085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9082278" y="0"/>
                  </a:lnTo>
                  <a:cubicBezTo>
                    <a:pt x="9120124" y="0"/>
                    <a:pt x="9150858" y="30734"/>
                    <a:pt x="9150858" y="68580"/>
                  </a:cubicBezTo>
                  <a:lnTo>
                    <a:pt x="9150858" y="5777992"/>
                  </a:lnTo>
                  <a:cubicBezTo>
                    <a:pt x="9150858" y="5815838"/>
                    <a:pt x="9120124" y="5846572"/>
                    <a:pt x="9082278" y="5846572"/>
                  </a:cubicBezTo>
                  <a:lnTo>
                    <a:pt x="68580" y="5846572"/>
                  </a:lnTo>
                  <a:cubicBezTo>
                    <a:pt x="30734" y="5846572"/>
                    <a:pt x="0" y="5815838"/>
                    <a:pt x="0" y="5777992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34510" y="2955055"/>
            <a:ext cx="6481905" cy="3650923"/>
            <a:chOff x="0" y="0"/>
            <a:chExt cx="8642540" cy="48678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42477" cy="4867783"/>
            </a:xfrm>
            <a:custGeom>
              <a:avLst/>
              <a:gdLst/>
              <a:ahLst/>
              <a:cxnLst/>
              <a:rect r="r" b="b" t="t" l="l"/>
              <a:pathLst>
                <a:path h="4867783" w="8642477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8573897" y="0"/>
                  </a:lnTo>
                  <a:cubicBezTo>
                    <a:pt x="8611743" y="0"/>
                    <a:pt x="8642477" y="30734"/>
                    <a:pt x="8642477" y="68580"/>
                  </a:cubicBezTo>
                  <a:lnTo>
                    <a:pt x="8642477" y="4799203"/>
                  </a:lnTo>
                  <a:cubicBezTo>
                    <a:pt x="8642477" y="4837049"/>
                    <a:pt x="8611743" y="4867783"/>
                    <a:pt x="8573897" y="4867783"/>
                  </a:cubicBezTo>
                  <a:lnTo>
                    <a:pt x="68580" y="4867783"/>
                  </a:lnTo>
                  <a:cubicBezTo>
                    <a:pt x="30734" y="4867783"/>
                    <a:pt x="0" y="4837049"/>
                    <a:pt x="0" y="4799203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87024" y="3031379"/>
            <a:ext cx="6176867" cy="341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7"/>
              </a:lnSpc>
            </a:pPr>
            <a:r>
              <a:rPr lang="en-US" sz="22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  <a:p>
            <a:pPr algn="just">
              <a:lnSpc>
                <a:spcPts val="3377"/>
              </a:lnSpc>
            </a:pPr>
            <a:r>
              <a:rPr lang="en-US" sz="22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Analysts check suspicious URLs or IPs across several tools, one at a time. This makes triage slow and repetitive, while clues get scattered across reports, screenshots and notes.</a:t>
            </a:r>
          </a:p>
          <a:p>
            <a:pPr algn="just">
              <a:lnSpc>
                <a:spcPts val="3377"/>
              </a:lnSpc>
            </a:pPr>
            <a:r>
              <a:rPr lang="en-US" sz="22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Why it matters</a:t>
            </a:r>
          </a:p>
          <a:p>
            <a:pPr algn="just">
              <a:lnSpc>
                <a:spcPts val="3377"/>
              </a:lnSpc>
            </a:pPr>
            <a:r>
              <a:rPr lang="en-US" sz="22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Rushed decisions can miss threats; overconfident ones can block legitimate activity.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32210" y="2764412"/>
            <a:ext cx="7625763" cy="4384929"/>
            <a:chOff x="0" y="0"/>
            <a:chExt cx="10167684" cy="58465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7620" cy="5846572"/>
            </a:xfrm>
            <a:custGeom>
              <a:avLst/>
              <a:gdLst/>
              <a:ahLst/>
              <a:cxnLst/>
              <a:rect r="r" b="b" t="t" l="l"/>
              <a:pathLst>
                <a:path h="5846572" w="10167620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10099040" y="0"/>
                  </a:lnTo>
                  <a:cubicBezTo>
                    <a:pt x="10136886" y="0"/>
                    <a:pt x="10167620" y="30734"/>
                    <a:pt x="10167620" y="68580"/>
                  </a:cubicBezTo>
                  <a:lnTo>
                    <a:pt x="10167620" y="5777992"/>
                  </a:lnTo>
                  <a:cubicBezTo>
                    <a:pt x="10167620" y="5815838"/>
                    <a:pt x="10136886" y="5846572"/>
                    <a:pt x="10099040" y="5846572"/>
                  </a:cubicBezTo>
                  <a:lnTo>
                    <a:pt x="68580" y="5846572"/>
                  </a:lnTo>
                  <a:cubicBezTo>
                    <a:pt x="30734" y="5846572"/>
                    <a:pt x="0" y="5815838"/>
                    <a:pt x="0" y="5777992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22853" y="2955055"/>
            <a:ext cx="7244477" cy="3279162"/>
            <a:chOff x="0" y="0"/>
            <a:chExt cx="9659302" cy="4372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59365" cy="4372229"/>
            </a:xfrm>
            <a:custGeom>
              <a:avLst/>
              <a:gdLst/>
              <a:ahLst/>
              <a:cxnLst/>
              <a:rect r="r" b="b" t="t" l="l"/>
              <a:pathLst>
                <a:path h="4372229" w="9659365">
                  <a:moveTo>
                    <a:pt x="0" y="68707"/>
                  </a:moveTo>
                  <a:cubicBezTo>
                    <a:pt x="0" y="30734"/>
                    <a:pt x="30734" y="0"/>
                    <a:pt x="68707" y="0"/>
                  </a:cubicBezTo>
                  <a:lnTo>
                    <a:pt x="9590659" y="0"/>
                  </a:lnTo>
                  <a:cubicBezTo>
                    <a:pt x="9628632" y="0"/>
                    <a:pt x="9659365" y="30734"/>
                    <a:pt x="9659365" y="68707"/>
                  </a:cubicBezTo>
                  <a:lnTo>
                    <a:pt x="9659365" y="4303522"/>
                  </a:lnTo>
                  <a:cubicBezTo>
                    <a:pt x="9659365" y="4341495"/>
                    <a:pt x="9628632" y="4372229"/>
                    <a:pt x="9590659" y="4372229"/>
                  </a:cubicBezTo>
                  <a:lnTo>
                    <a:pt x="68707" y="4372229"/>
                  </a:lnTo>
                  <a:cubicBezTo>
                    <a:pt x="30734" y="4372229"/>
                    <a:pt x="0" y="4341495"/>
                    <a:pt x="0" y="4303522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875368" y="3031379"/>
            <a:ext cx="6939448" cy="341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7"/>
              </a:lnSpc>
            </a:pPr>
            <a:r>
              <a:rPr lang="en-US" sz="22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The SentinelAI approach</a:t>
            </a:r>
          </a:p>
          <a:p>
            <a:pPr algn="just">
              <a:lnSpc>
                <a:spcPts val="3377"/>
              </a:lnSpc>
            </a:pPr>
            <a:r>
              <a:rPr lang="en-US" sz="22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Five specialist agents divide the work: they validate the input, gather outside evidence, review the page image, find relevant past knowledge and combine the findings.</a:t>
            </a:r>
          </a:p>
          <a:p>
            <a:pPr algn="just">
              <a:lnSpc>
                <a:spcPts val="3377"/>
              </a:lnSpc>
            </a:pPr>
            <a:r>
              <a:rPr lang="en-US" sz="22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The system shows analysts the evidence, a risk score and a plain explanation—then asks for approval before a high-impact action.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63898" y="7854191"/>
            <a:ext cx="16395402" cy="1601448"/>
            <a:chOff x="0" y="0"/>
            <a:chExt cx="21860535" cy="21352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60511" cy="2135251"/>
            </a:xfrm>
            <a:custGeom>
              <a:avLst/>
              <a:gdLst/>
              <a:ahLst/>
              <a:cxnLst/>
              <a:rect r="r" b="b" t="t" l="l"/>
              <a:pathLst>
                <a:path h="2135251" w="21860511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1791930" y="0"/>
                  </a:lnTo>
                  <a:cubicBezTo>
                    <a:pt x="21829776" y="0"/>
                    <a:pt x="21860511" y="30734"/>
                    <a:pt x="21860511" y="68580"/>
                  </a:cubicBezTo>
                  <a:lnTo>
                    <a:pt x="21860511" y="2066671"/>
                  </a:lnTo>
                  <a:cubicBezTo>
                    <a:pt x="21860511" y="2104517"/>
                    <a:pt x="21829776" y="2135251"/>
                    <a:pt x="21791930" y="2135251"/>
                  </a:cubicBezTo>
                  <a:lnTo>
                    <a:pt x="68580" y="2135251"/>
                  </a:lnTo>
                  <a:cubicBezTo>
                    <a:pt x="30734" y="2135251"/>
                    <a:pt x="0" y="2104517"/>
                    <a:pt x="0" y="2066671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5184" y="8006715"/>
            <a:ext cx="15632821" cy="581482"/>
            <a:chOff x="0" y="0"/>
            <a:chExt cx="20843761" cy="7753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843748" cy="775208"/>
            </a:xfrm>
            <a:custGeom>
              <a:avLst/>
              <a:gdLst/>
              <a:ahLst/>
              <a:cxnLst/>
              <a:rect r="r" b="b" t="t" l="l"/>
              <a:pathLst>
                <a:path h="775208" w="2084374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0775168" y="0"/>
                  </a:lnTo>
                  <a:cubicBezTo>
                    <a:pt x="20813013" y="0"/>
                    <a:pt x="20843748" y="30734"/>
                    <a:pt x="20843748" y="68580"/>
                  </a:cubicBezTo>
                  <a:lnTo>
                    <a:pt x="20843748" y="706628"/>
                  </a:lnTo>
                  <a:cubicBezTo>
                    <a:pt x="20843748" y="744474"/>
                    <a:pt x="20813013" y="775208"/>
                    <a:pt x="20775168" y="775208"/>
                  </a:cubicBezTo>
                  <a:lnTo>
                    <a:pt x="68580" y="775208"/>
                  </a:lnTo>
                  <a:cubicBezTo>
                    <a:pt x="30734" y="775208"/>
                    <a:pt x="0" y="744474"/>
                    <a:pt x="0" y="706628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74573" y="8367293"/>
            <a:ext cx="16395402" cy="48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26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Fast investigation, visible evidence, human control.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35884" y="9723996"/>
            <a:ext cx="3366506" cy="343167"/>
            <a:chOff x="0" y="0"/>
            <a:chExt cx="4488675" cy="4575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3224" y="2383107"/>
            <a:ext cx="16395402" cy="5624141"/>
            <a:chOff x="0" y="0"/>
            <a:chExt cx="21860535" cy="749885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1860511" cy="7498842"/>
            </a:xfrm>
            <a:custGeom>
              <a:avLst/>
              <a:gdLst/>
              <a:ahLst/>
              <a:cxnLst/>
              <a:rect r="r" b="b" t="t" l="l"/>
              <a:pathLst>
                <a:path h="7498842" w="21860511">
                  <a:moveTo>
                    <a:pt x="0" y="0"/>
                  </a:moveTo>
                  <a:lnTo>
                    <a:pt x="21860511" y="0"/>
                  </a:lnTo>
                  <a:lnTo>
                    <a:pt x="21860511" y="7498842"/>
                  </a:lnTo>
                  <a:lnTo>
                    <a:pt x="0" y="7498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8" r="0" b="-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6" t="0" r="-87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088434" y="810282"/>
            <a:ext cx="14793992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3"/>
              </a:lnSpc>
            </a:pPr>
            <a:r>
              <a:rPr lang="en-US" sz="3602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Architecture: Five Agents, One State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3224" y="8159772"/>
            <a:ext cx="16395402" cy="1334538"/>
            <a:chOff x="0" y="0"/>
            <a:chExt cx="21860535" cy="17793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60511" cy="1779270"/>
            </a:xfrm>
            <a:custGeom>
              <a:avLst/>
              <a:gdLst/>
              <a:ahLst/>
              <a:cxnLst/>
              <a:rect r="r" b="b" t="t" l="l"/>
              <a:pathLst>
                <a:path h="1779270" w="21860511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1791930" y="0"/>
                  </a:lnTo>
                  <a:cubicBezTo>
                    <a:pt x="21829776" y="0"/>
                    <a:pt x="21860511" y="30734"/>
                    <a:pt x="21860511" y="68580"/>
                  </a:cubicBezTo>
                  <a:lnTo>
                    <a:pt x="21860511" y="1710690"/>
                  </a:lnTo>
                  <a:cubicBezTo>
                    <a:pt x="21860511" y="1748536"/>
                    <a:pt x="21829776" y="1779270"/>
                    <a:pt x="21791930" y="1779270"/>
                  </a:cubicBezTo>
                  <a:lnTo>
                    <a:pt x="68580" y="1779270"/>
                  </a:lnTo>
                  <a:cubicBezTo>
                    <a:pt x="30734" y="1779270"/>
                    <a:pt x="0" y="1748536"/>
                    <a:pt x="0" y="171069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15206" y="8159772"/>
            <a:ext cx="16071428" cy="89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7"/>
              </a:lnSpc>
            </a:pPr>
            <a:r>
              <a:rPr lang="en-US" sz="19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Shared InvestigationState keeps inputs, tool results, screenshots, scores and decisions together.</a:t>
            </a:r>
          </a:p>
          <a:p>
            <a:pPr algn="ctr">
              <a:lnSpc>
                <a:spcPts val="2927"/>
              </a:lnSpc>
            </a:pPr>
            <a:r>
              <a:rPr lang="en-US" sz="19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Five focused agents can work on different clues without losing the investigation's history.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925210" y="9722910"/>
            <a:ext cx="3366506" cy="343167"/>
            <a:chOff x="0" y="0"/>
            <a:chExt cx="4488675" cy="4575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7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9719" y="810282"/>
            <a:ext cx="14412697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3"/>
              </a:lnSpc>
            </a:pPr>
            <a:r>
              <a:rPr lang="en-US" sz="3602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Workflow: From Signal to Safe Action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1929" y="2611888"/>
            <a:ext cx="3908203" cy="1296410"/>
            <a:chOff x="0" y="0"/>
            <a:chExt cx="5210937" cy="1728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10810" cy="1728470"/>
            </a:xfrm>
            <a:custGeom>
              <a:avLst/>
              <a:gdLst/>
              <a:ahLst/>
              <a:cxnLst/>
              <a:rect r="r" b="b" t="t" l="l"/>
              <a:pathLst>
                <a:path h="1728470" w="5210810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5142230" y="0"/>
                  </a:lnTo>
                  <a:cubicBezTo>
                    <a:pt x="5180076" y="0"/>
                    <a:pt x="5210810" y="30734"/>
                    <a:pt x="5210810" y="68580"/>
                  </a:cubicBezTo>
                  <a:lnTo>
                    <a:pt x="5210810" y="1659890"/>
                  </a:lnTo>
                  <a:cubicBezTo>
                    <a:pt x="5210810" y="1697736"/>
                    <a:pt x="5180076" y="1728470"/>
                    <a:pt x="5142230" y="1728470"/>
                  </a:cubicBezTo>
                  <a:lnTo>
                    <a:pt x="68580" y="1728470"/>
                  </a:lnTo>
                  <a:cubicBezTo>
                    <a:pt x="30734" y="1728470"/>
                    <a:pt x="0" y="1697736"/>
                    <a:pt x="0" y="165989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61427" y="2611888"/>
            <a:ext cx="3908203" cy="1296410"/>
            <a:chOff x="0" y="0"/>
            <a:chExt cx="5210937" cy="17285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0810" cy="1728470"/>
            </a:xfrm>
            <a:custGeom>
              <a:avLst/>
              <a:gdLst/>
              <a:ahLst/>
              <a:cxnLst/>
              <a:rect r="r" b="b" t="t" l="l"/>
              <a:pathLst>
                <a:path h="1728470" w="5210810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5142230" y="0"/>
                  </a:lnTo>
                  <a:cubicBezTo>
                    <a:pt x="5180076" y="0"/>
                    <a:pt x="5210810" y="30734"/>
                    <a:pt x="5210810" y="68580"/>
                  </a:cubicBezTo>
                  <a:lnTo>
                    <a:pt x="5210810" y="1659890"/>
                  </a:lnTo>
                  <a:cubicBezTo>
                    <a:pt x="5210810" y="1697736"/>
                    <a:pt x="5180076" y="1728470"/>
                    <a:pt x="5142230" y="1728470"/>
                  </a:cubicBezTo>
                  <a:lnTo>
                    <a:pt x="68580" y="1728470"/>
                  </a:lnTo>
                  <a:cubicBezTo>
                    <a:pt x="30734" y="1728470"/>
                    <a:pt x="0" y="1697736"/>
                    <a:pt x="0" y="165989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50925" y="2611888"/>
            <a:ext cx="3908203" cy="1296410"/>
            <a:chOff x="0" y="0"/>
            <a:chExt cx="5210937" cy="17285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0810" cy="1728470"/>
            </a:xfrm>
            <a:custGeom>
              <a:avLst/>
              <a:gdLst/>
              <a:ahLst/>
              <a:cxnLst/>
              <a:rect r="r" b="b" t="t" l="l"/>
              <a:pathLst>
                <a:path h="1728470" w="5210810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5142230" y="0"/>
                  </a:lnTo>
                  <a:cubicBezTo>
                    <a:pt x="5180076" y="0"/>
                    <a:pt x="5210810" y="30734"/>
                    <a:pt x="5210810" y="68580"/>
                  </a:cubicBezTo>
                  <a:lnTo>
                    <a:pt x="5210810" y="1659890"/>
                  </a:lnTo>
                  <a:cubicBezTo>
                    <a:pt x="5210810" y="1697736"/>
                    <a:pt x="5180076" y="1728470"/>
                    <a:pt x="5142230" y="1728470"/>
                  </a:cubicBezTo>
                  <a:lnTo>
                    <a:pt x="68580" y="1728470"/>
                  </a:lnTo>
                  <a:cubicBezTo>
                    <a:pt x="30734" y="1728470"/>
                    <a:pt x="0" y="1697736"/>
                    <a:pt x="0" y="165989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40413" y="2611888"/>
            <a:ext cx="3908203" cy="1296410"/>
            <a:chOff x="0" y="0"/>
            <a:chExt cx="5210937" cy="17285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10810" cy="1728470"/>
            </a:xfrm>
            <a:custGeom>
              <a:avLst/>
              <a:gdLst/>
              <a:ahLst/>
              <a:cxnLst/>
              <a:rect r="r" b="b" t="t" l="l"/>
              <a:pathLst>
                <a:path h="1728470" w="5210810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5142230" y="0"/>
                  </a:lnTo>
                  <a:cubicBezTo>
                    <a:pt x="5180076" y="0"/>
                    <a:pt x="5210810" y="30734"/>
                    <a:pt x="5210810" y="68580"/>
                  </a:cubicBezTo>
                  <a:lnTo>
                    <a:pt x="5210810" y="1659890"/>
                  </a:lnTo>
                  <a:cubicBezTo>
                    <a:pt x="5210810" y="1697736"/>
                    <a:pt x="5180076" y="1728470"/>
                    <a:pt x="5142230" y="1728470"/>
                  </a:cubicBezTo>
                  <a:lnTo>
                    <a:pt x="68580" y="1728470"/>
                  </a:lnTo>
                  <a:cubicBezTo>
                    <a:pt x="30734" y="1728470"/>
                    <a:pt x="0" y="1697736"/>
                    <a:pt x="0" y="165989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19769" y="2697737"/>
            <a:ext cx="3412531" cy="7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19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START</a:t>
            </a:r>
          </a:p>
          <a:p>
            <a:pPr algn="ctr">
              <a:lnSpc>
                <a:spcPts val="2852"/>
              </a:lnSpc>
            </a:pPr>
            <a:r>
              <a:rPr lang="en-US" sz="19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Signal received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09267" y="2688212"/>
            <a:ext cx="3412531" cy="100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7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Input Validation</a:t>
            </a:r>
          </a:p>
          <a:p>
            <a:pPr algn="ctr">
              <a:lnSpc>
                <a:spcPts val="2626"/>
              </a:lnSpc>
            </a:pPr>
            <a:r>
              <a:rPr lang="en-US" sz="17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Normalize + block unsafe requests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8756" y="2688212"/>
            <a:ext cx="3412531" cy="100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7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Threat Intelligence</a:t>
            </a:r>
          </a:p>
          <a:p>
            <a:pPr algn="ctr">
              <a:lnSpc>
                <a:spcPts val="2626"/>
              </a:lnSpc>
            </a:pPr>
            <a:r>
              <a:rPr lang="en-US" sz="17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VirusTotal · AbuseIPDB · URLScan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88254" y="2688212"/>
            <a:ext cx="3412531" cy="67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7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Visual Analysis</a:t>
            </a:r>
          </a:p>
          <a:p>
            <a:pPr algn="ctr">
              <a:lnSpc>
                <a:spcPts val="2626"/>
              </a:lnSpc>
            </a:pPr>
            <a:r>
              <a:rPr lang="en-US" sz="17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VLM reviews a screenshot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050305" y="4518384"/>
            <a:ext cx="5338039" cy="1601448"/>
            <a:chOff x="0" y="0"/>
            <a:chExt cx="7117385" cy="21352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17335" cy="2135251"/>
            </a:xfrm>
            <a:custGeom>
              <a:avLst/>
              <a:gdLst/>
              <a:ahLst/>
              <a:cxnLst/>
              <a:rect r="r" b="b" t="t" l="l"/>
              <a:pathLst>
                <a:path h="2135251" w="7117335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7048754" y="0"/>
                  </a:lnTo>
                  <a:cubicBezTo>
                    <a:pt x="7086600" y="0"/>
                    <a:pt x="7117335" y="30734"/>
                    <a:pt x="7117335" y="68580"/>
                  </a:cubicBezTo>
                  <a:lnTo>
                    <a:pt x="7117335" y="2066671"/>
                  </a:lnTo>
                  <a:cubicBezTo>
                    <a:pt x="7117335" y="2104517"/>
                    <a:pt x="7086600" y="2135251"/>
                    <a:pt x="7048754" y="2135251"/>
                  </a:cubicBezTo>
                  <a:lnTo>
                    <a:pt x="68580" y="2135251"/>
                  </a:lnTo>
                  <a:cubicBezTo>
                    <a:pt x="30734" y="2135251"/>
                    <a:pt x="0" y="2104517"/>
                    <a:pt x="0" y="2066671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08463" y="4518384"/>
            <a:ext cx="5338039" cy="1601448"/>
            <a:chOff x="0" y="0"/>
            <a:chExt cx="7117385" cy="21352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17335" cy="2135251"/>
            </a:xfrm>
            <a:custGeom>
              <a:avLst/>
              <a:gdLst/>
              <a:ahLst/>
              <a:cxnLst/>
              <a:rect r="r" b="b" t="t" l="l"/>
              <a:pathLst>
                <a:path h="2135251" w="7117335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7048754" y="0"/>
                  </a:lnTo>
                  <a:cubicBezTo>
                    <a:pt x="7086600" y="0"/>
                    <a:pt x="7117335" y="30734"/>
                    <a:pt x="7117335" y="68580"/>
                  </a:cubicBezTo>
                  <a:lnTo>
                    <a:pt x="7117335" y="2066671"/>
                  </a:lnTo>
                  <a:cubicBezTo>
                    <a:pt x="7117335" y="2104517"/>
                    <a:pt x="7086600" y="2135251"/>
                    <a:pt x="7048754" y="2135251"/>
                  </a:cubicBezTo>
                  <a:lnTo>
                    <a:pt x="68580" y="2135251"/>
                  </a:lnTo>
                  <a:cubicBezTo>
                    <a:pt x="30734" y="2135251"/>
                    <a:pt x="0" y="2104517"/>
                    <a:pt x="0" y="2066671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81905" y="6615522"/>
            <a:ext cx="5338039" cy="1191930"/>
            <a:chOff x="0" y="0"/>
            <a:chExt cx="7117385" cy="1589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17335" cy="1589230"/>
            </a:xfrm>
            <a:custGeom>
              <a:avLst/>
              <a:gdLst/>
              <a:ahLst/>
              <a:cxnLst/>
              <a:rect r="r" b="b" t="t" l="l"/>
              <a:pathLst>
                <a:path h="1589230" w="7117335">
                  <a:moveTo>
                    <a:pt x="0" y="51043"/>
                  </a:moveTo>
                  <a:cubicBezTo>
                    <a:pt x="0" y="22875"/>
                    <a:pt x="30734" y="0"/>
                    <a:pt x="68580" y="0"/>
                  </a:cubicBezTo>
                  <a:lnTo>
                    <a:pt x="7048754" y="0"/>
                  </a:lnTo>
                  <a:cubicBezTo>
                    <a:pt x="7086600" y="0"/>
                    <a:pt x="7117335" y="22875"/>
                    <a:pt x="7117335" y="51043"/>
                  </a:cubicBezTo>
                  <a:lnTo>
                    <a:pt x="7117335" y="1538188"/>
                  </a:lnTo>
                  <a:cubicBezTo>
                    <a:pt x="7117335" y="1566356"/>
                    <a:pt x="7086600" y="1589230"/>
                    <a:pt x="7048754" y="1589230"/>
                  </a:cubicBezTo>
                  <a:lnTo>
                    <a:pt x="68580" y="1589230"/>
                  </a:lnTo>
                  <a:cubicBezTo>
                    <a:pt x="30734" y="1589230"/>
                    <a:pt x="0" y="1566356"/>
                    <a:pt x="0" y="1538188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374403" y="4690024"/>
            <a:ext cx="4708912" cy="103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9"/>
              </a:lnSpc>
            </a:pPr>
            <a:r>
              <a:rPr lang="en-US" sz="18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RAG Retrieval</a:t>
            </a:r>
          </a:p>
          <a:p>
            <a:pPr algn="ctr">
              <a:lnSpc>
                <a:spcPts val="2739"/>
              </a:lnSpc>
            </a:pPr>
            <a:r>
              <a:rPr lang="en-US" sz="18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Finds relevant guidance in a curated knowledge base; Azure AI Search is optional.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32560" y="4690024"/>
            <a:ext cx="4708912" cy="103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9"/>
              </a:lnSpc>
            </a:pPr>
            <a:r>
              <a:rPr lang="en-US" sz="18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Orchestrator</a:t>
            </a:r>
          </a:p>
          <a:p>
            <a:pPr algn="ctr">
              <a:lnSpc>
                <a:spcPts val="2739"/>
              </a:lnSpc>
            </a:pPr>
            <a:r>
              <a:rPr lang="en-US" sz="18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Combines evidence into a weighted score, verdict and explanation.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05994" y="6787163"/>
            <a:ext cx="4708912" cy="69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9"/>
              </a:lnSpc>
            </a:pPr>
            <a:r>
              <a:rPr lang="en-US" sz="18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END</a:t>
            </a:r>
          </a:p>
          <a:p>
            <a:pPr algn="ctr">
              <a:lnSpc>
                <a:spcPts val="2739"/>
              </a:lnSpc>
            </a:pPr>
            <a:r>
              <a:rPr lang="en-US" sz="18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Reviewable result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62581" y="8293227"/>
            <a:ext cx="16593275" cy="1377391"/>
            <a:chOff x="0" y="0"/>
            <a:chExt cx="22368916" cy="18568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68892" cy="1856781"/>
            </a:xfrm>
            <a:custGeom>
              <a:avLst/>
              <a:gdLst/>
              <a:ahLst/>
              <a:cxnLst/>
              <a:rect r="r" b="b" t="t" l="l"/>
              <a:pathLst>
                <a:path h="1856781" w="22368892">
                  <a:moveTo>
                    <a:pt x="0" y="54451"/>
                  </a:moveTo>
                  <a:cubicBezTo>
                    <a:pt x="0" y="24402"/>
                    <a:pt x="30734" y="0"/>
                    <a:pt x="68580" y="0"/>
                  </a:cubicBezTo>
                  <a:lnTo>
                    <a:pt x="22300312" y="0"/>
                  </a:lnTo>
                  <a:cubicBezTo>
                    <a:pt x="22338157" y="0"/>
                    <a:pt x="22368892" y="24402"/>
                    <a:pt x="22368892" y="54451"/>
                  </a:cubicBezTo>
                  <a:lnTo>
                    <a:pt x="22368892" y="1802330"/>
                  </a:lnTo>
                  <a:cubicBezTo>
                    <a:pt x="22368892" y="1832379"/>
                    <a:pt x="22338157" y="1856781"/>
                    <a:pt x="22300312" y="1856781"/>
                  </a:cubicBezTo>
                  <a:lnTo>
                    <a:pt x="68580" y="1856781"/>
                  </a:lnTo>
                  <a:cubicBezTo>
                    <a:pt x="30734" y="1856781"/>
                    <a:pt x="0" y="1832379"/>
                    <a:pt x="0" y="180233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48541" y="8531609"/>
            <a:ext cx="16204759" cy="8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187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Shared InvestigationState</a:t>
            </a:r>
          </a:p>
          <a:p>
            <a:pPr algn="ctr">
              <a:lnSpc>
                <a:spcPts val="2814"/>
              </a:lnSpc>
            </a:pPr>
            <a:r>
              <a:rPr lang="en-US" sz="187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One record carries the original input, normalized value, tool findings, screenshot notes, retrieved context, score, confidence, verdict and approval status.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25210" y="9820056"/>
            <a:ext cx="3366506" cy="343167"/>
            <a:chOff x="0" y="0"/>
            <a:chExt cx="4488675" cy="4575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7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9719" y="810282"/>
            <a:ext cx="14412697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3"/>
              </a:lnSpc>
            </a:pPr>
            <a:r>
              <a:rPr lang="en-US" sz="3602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Tech Stack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867" y="2859738"/>
            <a:ext cx="7435120" cy="5357231"/>
            <a:chOff x="0" y="0"/>
            <a:chExt cx="9913493" cy="7142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13620" cy="7142988"/>
            </a:xfrm>
            <a:custGeom>
              <a:avLst/>
              <a:gdLst/>
              <a:ahLst/>
              <a:cxnLst/>
              <a:rect r="r" b="b" t="t" l="l"/>
              <a:pathLst>
                <a:path h="7142988" w="9913620">
                  <a:moveTo>
                    <a:pt x="0" y="68707"/>
                  </a:moveTo>
                  <a:cubicBezTo>
                    <a:pt x="0" y="30734"/>
                    <a:pt x="30734" y="0"/>
                    <a:pt x="68707" y="0"/>
                  </a:cubicBezTo>
                  <a:lnTo>
                    <a:pt x="9844913" y="0"/>
                  </a:lnTo>
                  <a:cubicBezTo>
                    <a:pt x="9882886" y="0"/>
                    <a:pt x="9913620" y="30734"/>
                    <a:pt x="9913620" y="68707"/>
                  </a:cubicBezTo>
                  <a:lnTo>
                    <a:pt x="9913620" y="7074281"/>
                  </a:lnTo>
                  <a:cubicBezTo>
                    <a:pt x="9913620" y="7112254"/>
                    <a:pt x="9882886" y="7142988"/>
                    <a:pt x="9844913" y="7142988"/>
                  </a:cubicBezTo>
                  <a:lnTo>
                    <a:pt x="68707" y="7142988"/>
                  </a:lnTo>
                  <a:cubicBezTo>
                    <a:pt x="30734" y="7142988"/>
                    <a:pt x="0" y="7112254"/>
                    <a:pt x="0" y="7074281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22853" y="2859738"/>
            <a:ext cx="7435120" cy="5357231"/>
            <a:chOff x="0" y="0"/>
            <a:chExt cx="9913493" cy="7142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13620" cy="7142988"/>
            </a:xfrm>
            <a:custGeom>
              <a:avLst/>
              <a:gdLst/>
              <a:ahLst/>
              <a:cxnLst/>
              <a:rect r="r" b="b" t="t" l="l"/>
              <a:pathLst>
                <a:path h="7142988" w="9913620">
                  <a:moveTo>
                    <a:pt x="0" y="68707"/>
                  </a:moveTo>
                  <a:cubicBezTo>
                    <a:pt x="0" y="30734"/>
                    <a:pt x="30734" y="0"/>
                    <a:pt x="68707" y="0"/>
                  </a:cubicBezTo>
                  <a:lnTo>
                    <a:pt x="9844913" y="0"/>
                  </a:lnTo>
                  <a:cubicBezTo>
                    <a:pt x="9882886" y="0"/>
                    <a:pt x="9913620" y="30734"/>
                    <a:pt x="9913620" y="68707"/>
                  </a:cubicBezTo>
                  <a:lnTo>
                    <a:pt x="9913620" y="7074281"/>
                  </a:lnTo>
                  <a:cubicBezTo>
                    <a:pt x="9913620" y="7112254"/>
                    <a:pt x="9882886" y="7142988"/>
                    <a:pt x="9844913" y="7142988"/>
                  </a:cubicBezTo>
                  <a:lnTo>
                    <a:pt x="68707" y="7142988"/>
                  </a:lnTo>
                  <a:cubicBezTo>
                    <a:pt x="30734" y="7142988"/>
                    <a:pt x="0" y="7112254"/>
                    <a:pt x="0" y="7074281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29826" y="3012253"/>
            <a:ext cx="6863191" cy="4937808"/>
            <a:chOff x="0" y="0"/>
            <a:chExt cx="9150922" cy="65837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50858" cy="6583680"/>
            </a:xfrm>
            <a:custGeom>
              <a:avLst/>
              <a:gdLst/>
              <a:ahLst/>
              <a:cxnLst/>
              <a:rect r="r" b="b" t="t" l="l"/>
              <a:pathLst>
                <a:path h="6583680" w="915085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9082278" y="0"/>
                  </a:lnTo>
                  <a:cubicBezTo>
                    <a:pt x="9120124" y="0"/>
                    <a:pt x="9150858" y="30734"/>
                    <a:pt x="9150858" y="68580"/>
                  </a:cubicBezTo>
                  <a:lnTo>
                    <a:pt x="9150858" y="6515100"/>
                  </a:lnTo>
                  <a:cubicBezTo>
                    <a:pt x="9150858" y="6552946"/>
                    <a:pt x="9120124" y="6583680"/>
                    <a:pt x="9082278" y="6583680"/>
                  </a:cubicBezTo>
                  <a:lnTo>
                    <a:pt x="68580" y="6583680"/>
                  </a:lnTo>
                  <a:cubicBezTo>
                    <a:pt x="30734" y="6583680"/>
                    <a:pt x="0" y="6552946"/>
                    <a:pt x="0" y="651510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82350" y="3088577"/>
            <a:ext cx="6558163" cy="436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3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How the system is coordinated</a:t>
            </a:r>
          </a:p>
          <a:p>
            <a:pPr algn="just">
              <a:lnSpc>
                <a:spcPts val="3489"/>
              </a:lnSpc>
            </a:pPr>
            <a:r>
              <a:rPr lang="en-US" sz="23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LangGraph acts like a map for the investigation: it routes work between agents and keeps their shared record up to date.</a:t>
            </a:r>
          </a:p>
          <a:p>
            <a:pPr algn="just">
              <a:lnSpc>
                <a:spcPts val="3489"/>
              </a:lnSpc>
            </a:pPr>
            <a:r>
              <a:rPr lang="en-US" sz="23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Python runs the service layer. Specialist language-model agents handle focused tasks, while a vision-language model reads screenshots in the way a person would inspect a page.</a:t>
            </a:r>
          </a:p>
          <a:p>
            <a:pPr algn="just">
              <a:lnSpc>
                <a:spcPts val="3489"/>
              </a:lnSpc>
            </a:pPr>
            <a:r>
              <a:rPr lang="en-US" sz="23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Retrieval adds relevant past guidance instead of asking the model to guess.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08822" y="3012253"/>
            <a:ext cx="6863191" cy="3779615"/>
            <a:chOff x="0" y="0"/>
            <a:chExt cx="9150922" cy="50394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50858" cy="5039360"/>
            </a:xfrm>
            <a:custGeom>
              <a:avLst/>
              <a:gdLst/>
              <a:ahLst/>
              <a:cxnLst/>
              <a:rect r="r" b="b" t="t" l="l"/>
              <a:pathLst>
                <a:path h="5039360" w="915085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9082278" y="0"/>
                  </a:lnTo>
                  <a:cubicBezTo>
                    <a:pt x="9120124" y="0"/>
                    <a:pt x="9150858" y="30734"/>
                    <a:pt x="9150858" y="68580"/>
                  </a:cubicBezTo>
                  <a:lnTo>
                    <a:pt x="9150858" y="4970780"/>
                  </a:lnTo>
                  <a:cubicBezTo>
                    <a:pt x="9150858" y="5008626"/>
                    <a:pt x="9120124" y="5039360"/>
                    <a:pt x="9082278" y="5039360"/>
                  </a:cubicBezTo>
                  <a:lnTo>
                    <a:pt x="68580" y="5039360"/>
                  </a:lnTo>
                  <a:cubicBezTo>
                    <a:pt x="30734" y="5039360"/>
                    <a:pt x="0" y="5008626"/>
                    <a:pt x="0" y="497078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161337" y="3088577"/>
            <a:ext cx="6558163" cy="393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sz="23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How evidence is gathered safely</a:t>
            </a:r>
          </a:p>
          <a:p>
            <a:pPr algn="just">
              <a:lnSpc>
                <a:spcPts val="3489"/>
              </a:lnSpc>
            </a:pPr>
            <a:r>
              <a:rPr lang="en-US" sz="23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VirusTotal, AbuseIPDB and URLScan provide outside reputation signals. Screenshot capture adds visual clues.</a:t>
            </a:r>
          </a:p>
          <a:p>
            <a:pPr algn="just">
              <a:lnSpc>
                <a:spcPts val="3489"/>
              </a:lnSpc>
            </a:pPr>
            <a:r>
              <a:rPr lang="en-US" sz="23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Input checks include SSRF protection—rules that stop a request from reaching unsafe internal destinations.</a:t>
            </a:r>
          </a:p>
          <a:p>
            <a:pPr algn="just">
              <a:lnSpc>
                <a:spcPts val="3489"/>
              </a:lnSpc>
            </a:pPr>
            <a:r>
              <a:rPr lang="en-US" sz="23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A structured InvestigationState preserves the evidence and decision trail for review.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3867" y="8312296"/>
            <a:ext cx="16014106" cy="1105767"/>
            <a:chOff x="0" y="0"/>
            <a:chExt cx="21352142" cy="14743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52129" cy="1474343"/>
            </a:xfrm>
            <a:custGeom>
              <a:avLst/>
              <a:gdLst/>
              <a:ahLst/>
              <a:cxnLst/>
              <a:rect r="r" b="b" t="t" l="l"/>
              <a:pathLst>
                <a:path h="1474343" w="21352129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1283549" y="0"/>
                  </a:lnTo>
                  <a:cubicBezTo>
                    <a:pt x="21321395" y="0"/>
                    <a:pt x="21352129" y="30734"/>
                    <a:pt x="21352129" y="68580"/>
                  </a:cubicBezTo>
                  <a:lnTo>
                    <a:pt x="21352129" y="1405763"/>
                  </a:lnTo>
                  <a:cubicBezTo>
                    <a:pt x="21352129" y="1443609"/>
                    <a:pt x="21321395" y="1474343"/>
                    <a:pt x="21283549" y="1474343"/>
                  </a:cubicBezTo>
                  <a:lnTo>
                    <a:pt x="68580" y="1474343"/>
                  </a:lnTo>
                  <a:cubicBezTo>
                    <a:pt x="30734" y="1474343"/>
                    <a:pt x="0" y="1443609"/>
                    <a:pt x="0" y="1405763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4510" y="8426682"/>
            <a:ext cx="15632821" cy="514750"/>
            <a:chOff x="0" y="0"/>
            <a:chExt cx="20843761" cy="686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843748" cy="686308"/>
            </a:xfrm>
            <a:custGeom>
              <a:avLst/>
              <a:gdLst/>
              <a:ahLst/>
              <a:cxnLst/>
              <a:rect r="r" b="b" t="t" l="l"/>
              <a:pathLst>
                <a:path h="686308" w="2084374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0775168" y="0"/>
                  </a:lnTo>
                  <a:cubicBezTo>
                    <a:pt x="20813013" y="0"/>
                    <a:pt x="20843748" y="30734"/>
                    <a:pt x="20843748" y="68580"/>
                  </a:cubicBezTo>
                  <a:lnTo>
                    <a:pt x="20843748" y="617728"/>
                  </a:lnTo>
                  <a:cubicBezTo>
                    <a:pt x="20843748" y="655574"/>
                    <a:pt x="20813013" y="686308"/>
                    <a:pt x="20775168" y="686308"/>
                  </a:cubicBezTo>
                  <a:lnTo>
                    <a:pt x="68580" y="686308"/>
                  </a:lnTo>
                  <a:cubicBezTo>
                    <a:pt x="30734" y="686308"/>
                    <a:pt x="0" y="655574"/>
                    <a:pt x="0" y="617728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34155" y="8618201"/>
            <a:ext cx="16433530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Specialist agents, controlled tools and decisions that can be explained.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925210" y="9820056"/>
            <a:ext cx="3366506" cy="343167"/>
            <a:chOff x="0" y="0"/>
            <a:chExt cx="4488675" cy="4575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7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9719" y="810282"/>
            <a:ext cx="14412697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3"/>
              </a:lnSpc>
            </a:pPr>
            <a:r>
              <a:rPr lang="en-US" sz="3602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What Makes SentinelAI Unique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3224" y="2859738"/>
            <a:ext cx="4670784" cy="2135267"/>
            <a:chOff x="0" y="0"/>
            <a:chExt cx="6227712" cy="28470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27699" cy="2846959"/>
            </a:xfrm>
            <a:custGeom>
              <a:avLst/>
              <a:gdLst/>
              <a:ahLst/>
              <a:cxnLst/>
              <a:rect r="r" b="b" t="t" l="l"/>
              <a:pathLst>
                <a:path h="2846959" w="6227699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6159119" y="0"/>
                  </a:lnTo>
                  <a:cubicBezTo>
                    <a:pt x="6197092" y="0"/>
                    <a:pt x="6227699" y="30734"/>
                    <a:pt x="6227699" y="68580"/>
                  </a:cubicBezTo>
                  <a:lnTo>
                    <a:pt x="6227699" y="2778379"/>
                  </a:lnTo>
                  <a:cubicBezTo>
                    <a:pt x="6227699" y="2816352"/>
                    <a:pt x="6196965" y="2846959"/>
                    <a:pt x="6159119" y="2846959"/>
                  </a:cubicBezTo>
                  <a:lnTo>
                    <a:pt x="68580" y="2846959"/>
                  </a:lnTo>
                  <a:cubicBezTo>
                    <a:pt x="30607" y="2846959"/>
                    <a:pt x="0" y="2816225"/>
                    <a:pt x="0" y="2778379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05994" y="2859738"/>
            <a:ext cx="4670784" cy="2135267"/>
            <a:chOff x="0" y="0"/>
            <a:chExt cx="6227712" cy="28470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7699" cy="2846959"/>
            </a:xfrm>
            <a:custGeom>
              <a:avLst/>
              <a:gdLst/>
              <a:ahLst/>
              <a:cxnLst/>
              <a:rect r="r" b="b" t="t" l="l"/>
              <a:pathLst>
                <a:path h="2846959" w="6227699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6159119" y="0"/>
                  </a:lnTo>
                  <a:cubicBezTo>
                    <a:pt x="6197092" y="0"/>
                    <a:pt x="6227699" y="30734"/>
                    <a:pt x="6227699" y="68580"/>
                  </a:cubicBezTo>
                  <a:lnTo>
                    <a:pt x="6227699" y="2778379"/>
                  </a:lnTo>
                  <a:cubicBezTo>
                    <a:pt x="6227699" y="2816352"/>
                    <a:pt x="6196965" y="2846959"/>
                    <a:pt x="6159119" y="2846959"/>
                  </a:cubicBezTo>
                  <a:lnTo>
                    <a:pt x="68580" y="2846959"/>
                  </a:lnTo>
                  <a:cubicBezTo>
                    <a:pt x="30607" y="2846959"/>
                    <a:pt x="0" y="2816225"/>
                    <a:pt x="0" y="2778379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658773" y="2859738"/>
            <a:ext cx="4670784" cy="2135267"/>
            <a:chOff x="0" y="0"/>
            <a:chExt cx="6227712" cy="28470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27699" cy="2846959"/>
            </a:xfrm>
            <a:custGeom>
              <a:avLst/>
              <a:gdLst/>
              <a:ahLst/>
              <a:cxnLst/>
              <a:rect r="r" b="b" t="t" l="l"/>
              <a:pathLst>
                <a:path h="2846959" w="6227699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6159119" y="0"/>
                  </a:lnTo>
                  <a:cubicBezTo>
                    <a:pt x="6197092" y="0"/>
                    <a:pt x="6227699" y="30734"/>
                    <a:pt x="6227699" y="68580"/>
                  </a:cubicBezTo>
                  <a:lnTo>
                    <a:pt x="6227699" y="2778379"/>
                  </a:lnTo>
                  <a:cubicBezTo>
                    <a:pt x="6227699" y="2816352"/>
                    <a:pt x="6196965" y="2846959"/>
                    <a:pt x="6159119" y="2846959"/>
                  </a:cubicBezTo>
                  <a:lnTo>
                    <a:pt x="68580" y="2846959"/>
                  </a:lnTo>
                  <a:cubicBezTo>
                    <a:pt x="30607" y="2846959"/>
                    <a:pt x="0" y="2816225"/>
                    <a:pt x="0" y="2778379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05738" y="2993193"/>
            <a:ext cx="4384815" cy="1348845"/>
            <a:chOff x="0" y="0"/>
            <a:chExt cx="5846420" cy="17984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46318" cy="1798320"/>
            </a:xfrm>
            <a:custGeom>
              <a:avLst/>
              <a:gdLst/>
              <a:ahLst/>
              <a:cxnLst/>
              <a:rect r="r" b="b" t="t" l="l"/>
              <a:pathLst>
                <a:path h="1798320" w="584631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5777738" y="0"/>
                  </a:lnTo>
                  <a:cubicBezTo>
                    <a:pt x="5815584" y="0"/>
                    <a:pt x="5846318" y="30734"/>
                    <a:pt x="5846318" y="68580"/>
                  </a:cubicBezTo>
                  <a:lnTo>
                    <a:pt x="5846318" y="1729740"/>
                  </a:lnTo>
                  <a:cubicBezTo>
                    <a:pt x="5846318" y="1767586"/>
                    <a:pt x="5815584" y="1798320"/>
                    <a:pt x="5777738" y="1798320"/>
                  </a:cubicBezTo>
                  <a:lnTo>
                    <a:pt x="68580" y="1798320"/>
                  </a:lnTo>
                  <a:cubicBezTo>
                    <a:pt x="30734" y="1798320"/>
                    <a:pt x="0" y="1767586"/>
                    <a:pt x="0" y="172974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01055" y="3021835"/>
            <a:ext cx="4194172" cy="122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More than one clue</a:t>
            </a:r>
          </a:p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It combines tool results with what the page actually looks like.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958508" y="2993193"/>
            <a:ext cx="4384815" cy="1734903"/>
            <a:chOff x="0" y="0"/>
            <a:chExt cx="5846420" cy="2313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46318" cy="2313178"/>
            </a:xfrm>
            <a:custGeom>
              <a:avLst/>
              <a:gdLst/>
              <a:ahLst/>
              <a:cxnLst/>
              <a:rect r="r" b="b" t="t" l="l"/>
              <a:pathLst>
                <a:path h="2313178" w="584631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5777738" y="0"/>
                  </a:lnTo>
                  <a:cubicBezTo>
                    <a:pt x="5815584" y="0"/>
                    <a:pt x="5846318" y="30734"/>
                    <a:pt x="5846318" y="68580"/>
                  </a:cubicBezTo>
                  <a:lnTo>
                    <a:pt x="5846318" y="2244598"/>
                  </a:lnTo>
                  <a:cubicBezTo>
                    <a:pt x="5846318" y="2282444"/>
                    <a:pt x="5815584" y="2313178"/>
                    <a:pt x="5777738" y="2313178"/>
                  </a:cubicBezTo>
                  <a:lnTo>
                    <a:pt x="68580" y="2313178"/>
                  </a:lnTo>
                  <a:cubicBezTo>
                    <a:pt x="30734" y="2313178"/>
                    <a:pt x="0" y="2282444"/>
                    <a:pt x="0" y="2244598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053834" y="3021835"/>
            <a:ext cx="4194172" cy="161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Safety before speed</a:t>
            </a:r>
          </a:p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Every fetch is checked so investigation does not create a new risk.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811287" y="2993193"/>
            <a:ext cx="4384815" cy="1734903"/>
            <a:chOff x="0" y="0"/>
            <a:chExt cx="5846420" cy="23132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46318" cy="2313178"/>
            </a:xfrm>
            <a:custGeom>
              <a:avLst/>
              <a:gdLst/>
              <a:ahLst/>
              <a:cxnLst/>
              <a:rect r="r" b="b" t="t" l="l"/>
              <a:pathLst>
                <a:path h="2313178" w="584631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5777738" y="0"/>
                  </a:lnTo>
                  <a:cubicBezTo>
                    <a:pt x="5815584" y="0"/>
                    <a:pt x="5846318" y="30734"/>
                    <a:pt x="5846318" y="68580"/>
                  </a:cubicBezTo>
                  <a:lnTo>
                    <a:pt x="5846318" y="2244598"/>
                  </a:lnTo>
                  <a:cubicBezTo>
                    <a:pt x="5846318" y="2282444"/>
                    <a:pt x="5815584" y="2313178"/>
                    <a:pt x="5777738" y="2313178"/>
                  </a:cubicBezTo>
                  <a:lnTo>
                    <a:pt x="68580" y="2313178"/>
                  </a:lnTo>
                  <a:cubicBezTo>
                    <a:pt x="30734" y="2313178"/>
                    <a:pt x="0" y="2282444"/>
                    <a:pt x="0" y="2244598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906613" y="3021835"/>
            <a:ext cx="4194172" cy="151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026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A reason, not a guess</a:t>
            </a:r>
          </a:p>
          <a:p>
            <a:pPr algn="ctr">
              <a:lnSpc>
                <a:spcPts val="3039"/>
              </a:lnSpc>
            </a:pPr>
            <a:r>
              <a:rPr lang="en-US" sz="2026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The score, confidence and supporting evidence are shown together.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62581" y="5910120"/>
            <a:ext cx="16757628" cy="3622329"/>
            <a:chOff x="0" y="0"/>
            <a:chExt cx="22343504" cy="48297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343492" cy="4829683"/>
            </a:xfrm>
            <a:custGeom>
              <a:avLst/>
              <a:gdLst/>
              <a:ahLst/>
              <a:cxnLst/>
              <a:rect r="r" b="b" t="t" l="l"/>
              <a:pathLst>
                <a:path h="4829683" w="22343492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2274912" y="0"/>
                  </a:lnTo>
                  <a:cubicBezTo>
                    <a:pt x="22312757" y="0"/>
                    <a:pt x="22343492" y="30734"/>
                    <a:pt x="22343492" y="68580"/>
                  </a:cubicBezTo>
                  <a:lnTo>
                    <a:pt x="22343492" y="4761103"/>
                  </a:lnTo>
                  <a:cubicBezTo>
                    <a:pt x="22343492" y="4798949"/>
                    <a:pt x="22312757" y="4829683"/>
                    <a:pt x="22274912" y="4829683"/>
                  </a:cubicBezTo>
                  <a:lnTo>
                    <a:pt x="68580" y="4829683"/>
                  </a:lnTo>
                  <a:cubicBezTo>
                    <a:pt x="30734" y="4829683"/>
                    <a:pt x="0" y="4798949"/>
                    <a:pt x="0" y="4761103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4510" y="6329543"/>
            <a:ext cx="15632821" cy="1982753"/>
            <a:chOff x="0" y="0"/>
            <a:chExt cx="20843761" cy="26436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843748" cy="2643632"/>
            </a:xfrm>
            <a:custGeom>
              <a:avLst/>
              <a:gdLst/>
              <a:ahLst/>
              <a:cxnLst/>
              <a:rect r="r" b="b" t="t" l="l"/>
              <a:pathLst>
                <a:path h="2643632" w="20843748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0775168" y="0"/>
                  </a:lnTo>
                  <a:cubicBezTo>
                    <a:pt x="20813013" y="0"/>
                    <a:pt x="20843748" y="30734"/>
                    <a:pt x="20843748" y="68580"/>
                  </a:cubicBezTo>
                  <a:lnTo>
                    <a:pt x="20843748" y="2575052"/>
                  </a:lnTo>
                  <a:cubicBezTo>
                    <a:pt x="20843748" y="2612898"/>
                    <a:pt x="20813013" y="2643632"/>
                    <a:pt x="20775168" y="2643632"/>
                  </a:cubicBezTo>
                  <a:lnTo>
                    <a:pt x="68580" y="2643632"/>
                  </a:lnTo>
                  <a:cubicBezTo>
                    <a:pt x="30734" y="2643632"/>
                    <a:pt x="0" y="2612898"/>
                    <a:pt x="0" y="2575052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67964" y="6377273"/>
            <a:ext cx="15365920" cy="200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7"/>
              </a:lnSpc>
            </a:pPr>
            <a:r>
              <a:rPr lang="en-US" sz="265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Agentic means the system can choose the next useful step:</a:t>
            </a:r>
            <a:r>
              <a:rPr lang="en-US" sz="26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 one agent gathers reputation data, another reviews the screenshot, another finds relevant guidance, and the coordinator brings the pieces together.</a:t>
            </a:r>
          </a:p>
          <a:p>
            <a:pPr algn="just">
              <a:lnSpc>
                <a:spcPts val="3977"/>
              </a:lnSpc>
            </a:pPr>
            <a:r>
              <a:rPr lang="en-US" sz="265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When the result is uncertain or the action is consequential, a person remains in the loop.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925210" y="9820056"/>
            <a:ext cx="3366506" cy="343167"/>
            <a:chOff x="0" y="0"/>
            <a:chExt cx="4488675" cy="4575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7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9719" y="810282"/>
            <a:ext cx="14412697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3"/>
              </a:lnSpc>
            </a:pPr>
            <a:r>
              <a:rPr lang="en-US" sz="3602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Impact of the Solution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8541" y="2955055"/>
            <a:ext cx="4766100" cy="2669086"/>
            <a:chOff x="0" y="0"/>
            <a:chExt cx="6354801" cy="35587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4826" cy="3558794"/>
            </a:xfrm>
            <a:custGeom>
              <a:avLst/>
              <a:gdLst/>
              <a:ahLst/>
              <a:cxnLst/>
              <a:rect r="r" b="b" t="t" l="l"/>
              <a:pathLst>
                <a:path h="3558794" w="6354826">
                  <a:moveTo>
                    <a:pt x="0" y="68707"/>
                  </a:moveTo>
                  <a:cubicBezTo>
                    <a:pt x="0" y="30734"/>
                    <a:pt x="30734" y="0"/>
                    <a:pt x="68707" y="0"/>
                  </a:cubicBezTo>
                  <a:lnTo>
                    <a:pt x="6286119" y="0"/>
                  </a:lnTo>
                  <a:cubicBezTo>
                    <a:pt x="6324092" y="0"/>
                    <a:pt x="6354826" y="30734"/>
                    <a:pt x="6354826" y="68707"/>
                  </a:cubicBezTo>
                  <a:lnTo>
                    <a:pt x="6354826" y="3490087"/>
                  </a:lnTo>
                  <a:cubicBezTo>
                    <a:pt x="6354826" y="3528060"/>
                    <a:pt x="6324092" y="3558794"/>
                    <a:pt x="6286119" y="3558794"/>
                  </a:cubicBezTo>
                  <a:lnTo>
                    <a:pt x="68707" y="3558794"/>
                  </a:lnTo>
                  <a:cubicBezTo>
                    <a:pt x="30734" y="3558794"/>
                    <a:pt x="0" y="3528060"/>
                    <a:pt x="0" y="3490087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67865" y="2955055"/>
            <a:ext cx="4766100" cy="2669086"/>
            <a:chOff x="0" y="0"/>
            <a:chExt cx="6354801" cy="35587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4826" cy="3558794"/>
            </a:xfrm>
            <a:custGeom>
              <a:avLst/>
              <a:gdLst/>
              <a:ahLst/>
              <a:cxnLst/>
              <a:rect r="r" b="b" t="t" l="l"/>
              <a:pathLst>
                <a:path h="3558794" w="6354826">
                  <a:moveTo>
                    <a:pt x="0" y="68707"/>
                  </a:moveTo>
                  <a:cubicBezTo>
                    <a:pt x="0" y="30734"/>
                    <a:pt x="30734" y="0"/>
                    <a:pt x="68707" y="0"/>
                  </a:cubicBezTo>
                  <a:lnTo>
                    <a:pt x="6286119" y="0"/>
                  </a:lnTo>
                  <a:cubicBezTo>
                    <a:pt x="6324092" y="0"/>
                    <a:pt x="6354826" y="30734"/>
                    <a:pt x="6354826" y="68707"/>
                  </a:cubicBezTo>
                  <a:lnTo>
                    <a:pt x="6354826" y="3490087"/>
                  </a:lnTo>
                  <a:cubicBezTo>
                    <a:pt x="6354826" y="3528060"/>
                    <a:pt x="6324092" y="3558794"/>
                    <a:pt x="6286119" y="3558794"/>
                  </a:cubicBezTo>
                  <a:lnTo>
                    <a:pt x="68707" y="3558794"/>
                  </a:lnTo>
                  <a:cubicBezTo>
                    <a:pt x="30734" y="3558794"/>
                    <a:pt x="0" y="3528060"/>
                    <a:pt x="0" y="3490087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487189" y="2955055"/>
            <a:ext cx="4766100" cy="2669086"/>
            <a:chOff x="0" y="0"/>
            <a:chExt cx="6354801" cy="35587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4826" cy="3558794"/>
            </a:xfrm>
            <a:custGeom>
              <a:avLst/>
              <a:gdLst/>
              <a:ahLst/>
              <a:cxnLst/>
              <a:rect r="r" b="b" t="t" l="l"/>
              <a:pathLst>
                <a:path h="3558794" w="6354826">
                  <a:moveTo>
                    <a:pt x="0" y="68707"/>
                  </a:moveTo>
                  <a:cubicBezTo>
                    <a:pt x="0" y="30734"/>
                    <a:pt x="30734" y="0"/>
                    <a:pt x="68707" y="0"/>
                  </a:cubicBezTo>
                  <a:lnTo>
                    <a:pt x="6286119" y="0"/>
                  </a:lnTo>
                  <a:cubicBezTo>
                    <a:pt x="6324092" y="0"/>
                    <a:pt x="6354826" y="30734"/>
                    <a:pt x="6354826" y="68707"/>
                  </a:cubicBezTo>
                  <a:lnTo>
                    <a:pt x="6354826" y="3490087"/>
                  </a:lnTo>
                  <a:cubicBezTo>
                    <a:pt x="6354826" y="3528060"/>
                    <a:pt x="6324092" y="3558794"/>
                    <a:pt x="6286119" y="3558794"/>
                  </a:cubicBezTo>
                  <a:lnTo>
                    <a:pt x="68707" y="3558794"/>
                  </a:lnTo>
                  <a:cubicBezTo>
                    <a:pt x="30734" y="3558794"/>
                    <a:pt x="0" y="3528060"/>
                    <a:pt x="0" y="3490087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15441" y="3193418"/>
            <a:ext cx="4251369" cy="166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A shorter path to triage</a:t>
            </a:r>
          </a:p>
          <a:p>
            <a:pPr algn="ctr">
              <a:lnSpc>
                <a:spcPts val="3152"/>
              </a:lnSpc>
            </a:pPr>
            <a:r>
              <a:rPr lang="en-US" sz="21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Several evidence-gathering tasks can run together instead of waiting on one tool after another.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34774" y="3193418"/>
            <a:ext cx="4251369" cy="20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A fuller analyst view</a:t>
            </a:r>
          </a:p>
          <a:p>
            <a:pPr algn="ctr">
              <a:lnSpc>
                <a:spcPts val="3152"/>
              </a:lnSpc>
            </a:pPr>
            <a:r>
              <a:rPr lang="en-US" sz="21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The analyst sees reputation results, screenshot observations, retrieved guidance, score, confidence and explanation in one record.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4099" y="3193418"/>
            <a:ext cx="4251369" cy="166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A safer final step</a:t>
            </a:r>
          </a:p>
          <a:p>
            <a:pPr algn="ctr">
              <a:lnSpc>
                <a:spcPts val="3152"/>
              </a:lnSpc>
            </a:pPr>
            <a:r>
              <a:rPr lang="en-US" sz="21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BLOCK decisions, or any confidence below 0.65, require approval before action.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48541" y="7015877"/>
            <a:ext cx="16204759" cy="2211524"/>
            <a:chOff x="0" y="0"/>
            <a:chExt cx="21606345" cy="29486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06383" cy="2948813"/>
            </a:xfrm>
            <a:custGeom>
              <a:avLst/>
              <a:gdLst/>
              <a:ahLst/>
              <a:cxnLst/>
              <a:rect r="r" b="b" t="t" l="l"/>
              <a:pathLst>
                <a:path h="2948813" w="21606383">
                  <a:moveTo>
                    <a:pt x="0" y="68707"/>
                  </a:moveTo>
                  <a:cubicBezTo>
                    <a:pt x="0" y="30734"/>
                    <a:pt x="30734" y="0"/>
                    <a:pt x="68707" y="0"/>
                  </a:cubicBezTo>
                  <a:lnTo>
                    <a:pt x="21537676" y="0"/>
                  </a:lnTo>
                  <a:cubicBezTo>
                    <a:pt x="21575649" y="0"/>
                    <a:pt x="21606383" y="30734"/>
                    <a:pt x="21606383" y="68707"/>
                  </a:cubicBezTo>
                  <a:lnTo>
                    <a:pt x="21606383" y="2880106"/>
                  </a:lnTo>
                  <a:cubicBezTo>
                    <a:pt x="21606383" y="2918079"/>
                    <a:pt x="21575649" y="2948813"/>
                    <a:pt x="21537676" y="2948813"/>
                  </a:cubicBezTo>
                  <a:lnTo>
                    <a:pt x="68707" y="2948813"/>
                  </a:lnTo>
                  <a:cubicBezTo>
                    <a:pt x="30734" y="2948813"/>
                    <a:pt x="0" y="2918079"/>
                    <a:pt x="0" y="2880106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44217" y="7549488"/>
            <a:ext cx="15213406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1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Evidence from the build:</a:t>
            </a:r>
            <a:r>
              <a:rPr lang="en-US" sz="21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 15 tests passed. Phish-IRIS evaluation tracks detection quality, evidence completeness, confidence calibration, latency and approval outcomes.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925210" y="9820056"/>
            <a:ext cx="3366506" cy="343167"/>
            <a:chOff x="0" y="0"/>
            <a:chExt cx="4488675" cy="457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EE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3455"/>
            <a:chOff x="0" y="0"/>
            <a:chExt cx="24402453" cy="177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6" cy="177800"/>
            </a:xfrm>
            <a:custGeom>
              <a:avLst/>
              <a:gdLst/>
              <a:ahLst/>
              <a:cxnLst/>
              <a:rect r="r" b="b" t="t" l="l"/>
              <a:pathLst>
                <a:path h="177800" w="2440241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4333836" y="0"/>
                  </a:lnTo>
                  <a:cubicBezTo>
                    <a:pt x="24371681" y="0"/>
                    <a:pt x="24402416" y="30734"/>
                    <a:pt x="24402416" y="68580"/>
                  </a:cubicBezTo>
                  <a:lnTo>
                    <a:pt x="24402416" y="109220"/>
                  </a:lnTo>
                  <a:cubicBezTo>
                    <a:pt x="24402416" y="147066"/>
                    <a:pt x="24371681" y="177800"/>
                    <a:pt x="24333836" y="177800"/>
                  </a:cubicBezTo>
                  <a:lnTo>
                    <a:pt x="68580" y="177800"/>
                  </a:lnTo>
                  <a:cubicBezTo>
                    <a:pt x="30734" y="177800"/>
                    <a:pt x="0" y="147066"/>
                    <a:pt x="0" y="109220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900" y="495691"/>
            <a:ext cx="2783405" cy="1029500"/>
            <a:chOff x="0" y="0"/>
            <a:chExt cx="3711207" cy="137266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7111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711194">
                  <a:moveTo>
                    <a:pt x="0" y="0"/>
                  </a:moveTo>
                  <a:lnTo>
                    <a:pt x="3711194" y="0"/>
                  </a:lnTo>
                  <a:lnTo>
                    <a:pt x="3711194" y="1372616"/>
                  </a:lnTo>
                  <a:lnTo>
                    <a:pt x="0" y="137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7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995" y="1849298"/>
            <a:ext cx="15937849" cy="57198"/>
            <a:chOff x="0" y="0"/>
            <a:chExt cx="2125046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50402" cy="76200"/>
            </a:xfrm>
            <a:custGeom>
              <a:avLst/>
              <a:gdLst/>
              <a:ahLst/>
              <a:cxnLst/>
              <a:rect r="r" b="b" t="t" l="l"/>
              <a:pathLst>
                <a:path h="76200" w="2125040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212302" y="0"/>
                  </a:lnTo>
                  <a:cubicBezTo>
                    <a:pt x="21233385" y="0"/>
                    <a:pt x="21250402" y="17018"/>
                    <a:pt x="21250402" y="38100"/>
                  </a:cubicBezTo>
                  <a:cubicBezTo>
                    <a:pt x="21250402" y="59182"/>
                    <a:pt x="21233385" y="76200"/>
                    <a:pt x="21212302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9719" y="810282"/>
            <a:ext cx="14412697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3"/>
              </a:lnSpc>
            </a:pPr>
            <a:r>
              <a:rPr lang="en-US" sz="3602" b="true">
                <a:solidFill>
                  <a:srgbClr val="5E5661"/>
                </a:solidFill>
                <a:latin typeface="Tinos Bold"/>
                <a:ea typeface="Tinos Bold"/>
                <a:cs typeface="Tinos Bold"/>
                <a:sym typeface="Tinos Bold"/>
              </a:rPr>
              <a:t>Future Scope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8541" y="2916926"/>
            <a:ext cx="7435120" cy="4747155"/>
            <a:chOff x="0" y="0"/>
            <a:chExt cx="9913493" cy="6329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13493" cy="6329553"/>
            </a:xfrm>
            <a:custGeom>
              <a:avLst/>
              <a:gdLst/>
              <a:ahLst/>
              <a:cxnLst/>
              <a:rect r="r" b="b" t="t" l="l"/>
              <a:pathLst>
                <a:path h="6329553" w="9913493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9844913" y="0"/>
                  </a:lnTo>
                  <a:cubicBezTo>
                    <a:pt x="9882759" y="0"/>
                    <a:pt x="9913493" y="30734"/>
                    <a:pt x="9913493" y="68580"/>
                  </a:cubicBezTo>
                  <a:lnTo>
                    <a:pt x="9913493" y="6260973"/>
                  </a:lnTo>
                  <a:cubicBezTo>
                    <a:pt x="9913493" y="6298819"/>
                    <a:pt x="9882759" y="6329553"/>
                    <a:pt x="9844913" y="6329553"/>
                  </a:cubicBezTo>
                  <a:lnTo>
                    <a:pt x="68580" y="6329553"/>
                  </a:lnTo>
                  <a:cubicBezTo>
                    <a:pt x="30734" y="6329553"/>
                    <a:pt x="0" y="6298819"/>
                    <a:pt x="0" y="6260973"/>
                  </a:cubicBezTo>
                  <a:close/>
                </a:path>
              </a:pathLst>
            </a:custGeom>
            <a:solidFill>
              <a:srgbClr val="3A1F5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818170" y="2916926"/>
            <a:ext cx="7435120" cy="4747155"/>
            <a:chOff x="0" y="0"/>
            <a:chExt cx="9913493" cy="63295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13493" cy="6329553"/>
            </a:xfrm>
            <a:custGeom>
              <a:avLst/>
              <a:gdLst/>
              <a:ahLst/>
              <a:cxnLst/>
              <a:rect r="r" b="b" t="t" l="l"/>
              <a:pathLst>
                <a:path h="6329553" w="9913493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9844913" y="0"/>
                  </a:lnTo>
                  <a:cubicBezTo>
                    <a:pt x="9882759" y="0"/>
                    <a:pt x="9913493" y="30734"/>
                    <a:pt x="9913493" y="68580"/>
                  </a:cubicBezTo>
                  <a:lnTo>
                    <a:pt x="9913493" y="6260973"/>
                  </a:lnTo>
                  <a:cubicBezTo>
                    <a:pt x="9913493" y="6298819"/>
                    <a:pt x="9882759" y="6329553"/>
                    <a:pt x="9844913" y="6329553"/>
                  </a:cubicBezTo>
                  <a:lnTo>
                    <a:pt x="68580" y="6329553"/>
                  </a:lnTo>
                  <a:cubicBezTo>
                    <a:pt x="30734" y="6329553"/>
                    <a:pt x="0" y="6298819"/>
                    <a:pt x="0" y="6260973"/>
                  </a:cubicBezTo>
                  <a:close/>
                </a:path>
              </a:pathLst>
            </a:custGeom>
            <a:solidFill>
              <a:srgbClr val="8B6FB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82350" y="3212506"/>
            <a:ext cx="6367520" cy="319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4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What could improve next</a:t>
            </a:r>
          </a:p>
          <a:p>
            <a:pPr algn="just">
              <a:lnSpc>
                <a:spcPts val="3602"/>
              </a:lnSpc>
            </a:pPr>
            <a:r>
              <a:rPr lang="en-US" sz="24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Broaden threat-intelligence coverage so analysts have more context.</a:t>
            </a:r>
          </a:p>
          <a:p>
            <a:pPr algn="just">
              <a:lnSpc>
                <a:spcPts val="3602"/>
              </a:lnSpc>
            </a:pPr>
            <a:r>
              <a:rPr lang="en-US" sz="24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Add browser and sandbox signals to observe more than a single page view.</a:t>
            </a:r>
          </a:p>
          <a:p>
            <a:pPr algn="just">
              <a:lnSpc>
                <a:spcPts val="3602"/>
              </a:lnSpc>
            </a:pPr>
            <a:r>
              <a:rPr lang="en-US" sz="24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Use larger benchmarks to calibrate scores and improve confidence.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1980" y="3212506"/>
            <a:ext cx="6367520" cy="319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4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How to scale responsibly</a:t>
            </a:r>
          </a:p>
          <a:p>
            <a:pPr algn="just">
              <a:lnSpc>
                <a:spcPts val="3602"/>
              </a:lnSpc>
            </a:pPr>
            <a:r>
              <a:rPr lang="en-US" sz="24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Keep policy-controlled containment and approval gates for high-impact actions.</a:t>
            </a:r>
          </a:p>
          <a:p>
            <a:pPr algn="just">
              <a:lnSpc>
                <a:spcPts val="3602"/>
              </a:lnSpc>
            </a:pPr>
            <a:r>
              <a:rPr lang="en-US" sz="24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Continue evaluation and red-teaming—deliberately testing how the system fails.</a:t>
            </a:r>
          </a:p>
          <a:p>
            <a:pPr algn="just">
              <a:lnSpc>
                <a:spcPts val="3602"/>
              </a:lnSpc>
            </a:pPr>
            <a:r>
              <a:rPr lang="en-US" sz="2401">
                <a:solidFill>
                  <a:srgbClr val="F7F1E6"/>
                </a:solidFill>
                <a:latin typeface="Arimo"/>
                <a:ea typeface="Arimo"/>
                <a:cs typeface="Arimo"/>
                <a:sym typeface="Arimo"/>
              </a:rPr>
              <a:t>Use analyst feedback to improve the knowledge base, routing and explanations.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8541" y="8350425"/>
            <a:ext cx="16204759" cy="1220152"/>
            <a:chOff x="0" y="0"/>
            <a:chExt cx="21606345" cy="16268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06256" cy="1626870"/>
            </a:xfrm>
            <a:custGeom>
              <a:avLst/>
              <a:gdLst/>
              <a:ahLst/>
              <a:cxnLst/>
              <a:rect r="r" b="b" t="t" l="l"/>
              <a:pathLst>
                <a:path h="1626870" w="2160625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21537676" y="0"/>
                  </a:lnTo>
                  <a:cubicBezTo>
                    <a:pt x="21575522" y="0"/>
                    <a:pt x="21606256" y="30734"/>
                    <a:pt x="21606256" y="68580"/>
                  </a:cubicBezTo>
                  <a:lnTo>
                    <a:pt x="21606256" y="1558290"/>
                  </a:lnTo>
                  <a:cubicBezTo>
                    <a:pt x="21606256" y="1596136"/>
                    <a:pt x="21575522" y="1626870"/>
                    <a:pt x="21537676" y="1626870"/>
                  </a:cubicBezTo>
                  <a:lnTo>
                    <a:pt x="68580" y="1626870"/>
                  </a:lnTo>
                  <a:cubicBezTo>
                    <a:pt x="30734" y="1626870"/>
                    <a:pt x="0" y="1596136"/>
                    <a:pt x="0" y="1558290"/>
                  </a:cubicBezTo>
                  <a:close/>
                </a:path>
              </a:pathLst>
            </a:custGeom>
            <a:solidFill>
              <a:srgbClr val="6E4B8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54541" y="8588007"/>
            <a:ext cx="16204759" cy="54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2401" b="true">
                <a:solidFill>
                  <a:srgbClr val="F7F1E6"/>
                </a:solidFill>
                <a:latin typeface="Arimo Bold"/>
                <a:ea typeface="Arimo Bold"/>
                <a:cs typeface="Arimo Bold"/>
                <a:sym typeface="Arimo Bold"/>
              </a:rPr>
              <a:t>Build trust first. Scale autonomy responsibly.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925210" y="9820056"/>
            <a:ext cx="3366506" cy="343167"/>
            <a:chOff x="0" y="0"/>
            <a:chExt cx="4488675" cy="457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88677" cy="457557"/>
            </a:xfrm>
            <a:custGeom>
              <a:avLst/>
              <a:gdLst/>
              <a:ahLst/>
              <a:cxnLst/>
              <a:rect r="r" b="b" t="t" l="l"/>
              <a:pathLst>
                <a:path h="457557" w="4488677">
                  <a:moveTo>
                    <a:pt x="0" y="0"/>
                  </a:moveTo>
                  <a:lnTo>
                    <a:pt x="4488677" y="0"/>
                  </a:lnTo>
                  <a:lnTo>
                    <a:pt x="448867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149" r="0" b="-14114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488675" cy="505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Department of AI &amp; ML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DAHW9N3-Lr0</dc:identifier>
  <dcterms:modified xsi:type="dcterms:W3CDTF">2011-08-01T06:04:30Z</dcterms:modified>
  <cp:revision>1</cp:revision>
  <dc:title>SentinelAI-Detailed-Agentic-AI-Presentation.pptx</dc:title>
</cp:coreProperties>
</file>